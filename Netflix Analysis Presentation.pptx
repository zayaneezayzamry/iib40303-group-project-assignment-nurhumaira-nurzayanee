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chivo Black" charset="1" panose="020B0A03020202020B04"/>
      <p:regular r:id="rId19"/>
    </p:embeddedFont>
    <p:embeddedFont>
      <p:font typeface="Belleza" charset="1" panose="020005030500000200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61811" y="966459"/>
            <a:ext cx="6815293" cy="7012049"/>
          </a:xfrm>
          <a:custGeom>
            <a:avLst/>
            <a:gdLst/>
            <a:ahLst/>
            <a:cxnLst/>
            <a:rect r="r" b="b" t="t" l="l"/>
            <a:pathLst>
              <a:path h="7012049" w="6815293">
                <a:moveTo>
                  <a:pt x="0" y="0"/>
                </a:moveTo>
                <a:lnTo>
                  <a:pt x="6815293" y="0"/>
                </a:lnTo>
                <a:lnTo>
                  <a:pt x="6815293" y="7012049"/>
                </a:lnTo>
                <a:lnTo>
                  <a:pt x="0" y="7012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280928"/>
            <a:ext cx="5121107" cy="1453388"/>
            <a:chOff x="0" y="0"/>
            <a:chExt cx="1348769" cy="3827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8769" cy="382785"/>
            </a:xfrm>
            <a:custGeom>
              <a:avLst/>
              <a:gdLst/>
              <a:ahLst/>
              <a:cxnLst/>
              <a:rect r="r" b="b" t="t" l="l"/>
              <a:pathLst>
                <a:path h="382785" w="1348769">
                  <a:moveTo>
                    <a:pt x="151177" y="0"/>
                  </a:moveTo>
                  <a:lnTo>
                    <a:pt x="1197592" y="0"/>
                  </a:lnTo>
                  <a:cubicBezTo>
                    <a:pt x="1237687" y="0"/>
                    <a:pt x="1276139" y="15927"/>
                    <a:pt x="1304490" y="44279"/>
                  </a:cubicBezTo>
                  <a:cubicBezTo>
                    <a:pt x="1332841" y="72630"/>
                    <a:pt x="1348769" y="111082"/>
                    <a:pt x="1348769" y="151177"/>
                  </a:cubicBezTo>
                  <a:lnTo>
                    <a:pt x="1348769" y="231609"/>
                  </a:lnTo>
                  <a:cubicBezTo>
                    <a:pt x="1348769" y="271703"/>
                    <a:pt x="1332841" y="310156"/>
                    <a:pt x="1304490" y="338507"/>
                  </a:cubicBezTo>
                  <a:cubicBezTo>
                    <a:pt x="1276139" y="366858"/>
                    <a:pt x="1237687" y="382785"/>
                    <a:pt x="1197592" y="382785"/>
                  </a:cubicBezTo>
                  <a:lnTo>
                    <a:pt x="151177" y="382785"/>
                  </a:lnTo>
                  <a:cubicBezTo>
                    <a:pt x="111082" y="382785"/>
                    <a:pt x="72630" y="366858"/>
                    <a:pt x="44279" y="338507"/>
                  </a:cubicBezTo>
                  <a:cubicBezTo>
                    <a:pt x="15927" y="310156"/>
                    <a:pt x="0" y="271703"/>
                    <a:pt x="0" y="231609"/>
                  </a:cubicBezTo>
                  <a:lnTo>
                    <a:pt x="0" y="151177"/>
                  </a:lnTo>
                  <a:cubicBezTo>
                    <a:pt x="0" y="111082"/>
                    <a:pt x="15927" y="72630"/>
                    <a:pt x="44279" y="44279"/>
                  </a:cubicBezTo>
                  <a:cubicBezTo>
                    <a:pt x="72630" y="15927"/>
                    <a:pt x="111082" y="0"/>
                    <a:pt x="151177" y="0"/>
                  </a:cubicBezTo>
                  <a:close/>
                </a:path>
              </a:pathLst>
            </a:custGeom>
            <a:solidFill>
              <a:srgbClr val="6E629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348769" cy="354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00"/>
                </a:lnSpc>
              </a:pPr>
              <a:r>
                <a:rPr lang="en-US" sz="20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PREPARED BY:</a:t>
              </a:r>
            </a:p>
            <a:p>
              <a:pPr algn="l" marL="431801" indent="-215900" lvl="1">
                <a:lnSpc>
                  <a:spcPts val="20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NUR HUMAIRA BINTI ABDUL WAHAB (52224123318)</a:t>
              </a:r>
            </a:p>
            <a:p>
              <a:pPr algn="l" marL="431801" indent="-215900" lvl="1">
                <a:lnSpc>
                  <a:spcPts val="2000"/>
                </a:lnSpc>
                <a:buAutoNum type="arabicPeriod" startAt="1"/>
              </a:pPr>
              <a:r>
                <a:rPr lang="en-US" sz="20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NUR ZAYANEE MAHFUZAH BINTI ZAYZAMRY (52224123241)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51258" y="4374758"/>
            <a:ext cx="18439258" cy="4632863"/>
          </a:xfrm>
          <a:custGeom>
            <a:avLst/>
            <a:gdLst/>
            <a:ahLst/>
            <a:cxnLst/>
            <a:rect r="r" b="b" t="t" l="l"/>
            <a:pathLst>
              <a:path h="4632863" w="18439258">
                <a:moveTo>
                  <a:pt x="0" y="0"/>
                </a:moveTo>
                <a:lnTo>
                  <a:pt x="18439258" y="0"/>
                </a:lnTo>
                <a:lnTo>
                  <a:pt x="18439258" y="4632864"/>
                </a:lnTo>
                <a:lnTo>
                  <a:pt x="0" y="4632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16719" y="0"/>
            <a:ext cx="7028457" cy="4712523"/>
          </a:xfrm>
          <a:custGeom>
            <a:avLst/>
            <a:gdLst/>
            <a:ahLst/>
            <a:cxnLst/>
            <a:rect r="r" b="b" t="t" l="l"/>
            <a:pathLst>
              <a:path h="4712523" w="7028457">
                <a:moveTo>
                  <a:pt x="0" y="0"/>
                </a:moveTo>
                <a:lnTo>
                  <a:pt x="7028457" y="0"/>
                </a:lnTo>
                <a:lnTo>
                  <a:pt x="7028457" y="4712523"/>
                </a:lnTo>
                <a:lnTo>
                  <a:pt x="0" y="4712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8591" y="205573"/>
            <a:ext cx="1360218" cy="1646254"/>
          </a:xfrm>
          <a:custGeom>
            <a:avLst/>
            <a:gdLst/>
            <a:ahLst/>
            <a:cxnLst/>
            <a:rect r="r" b="b" t="t" l="l"/>
            <a:pathLst>
              <a:path h="1646254" w="1360218">
                <a:moveTo>
                  <a:pt x="0" y="0"/>
                </a:moveTo>
                <a:lnTo>
                  <a:pt x="1360218" y="0"/>
                </a:lnTo>
                <a:lnTo>
                  <a:pt x="1360218" y="1646254"/>
                </a:lnTo>
                <a:lnTo>
                  <a:pt x="0" y="1646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61906" y="734862"/>
            <a:ext cx="7182094" cy="239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NETFLIX</a:t>
            </a:r>
          </a:p>
          <a:p>
            <a:pPr algn="l">
              <a:lnSpc>
                <a:spcPts val="9200"/>
              </a:lnSpc>
            </a:pPr>
            <a:r>
              <a:rPr lang="en-US" sz="92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21454" y="8309763"/>
            <a:ext cx="11109493" cy="125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220"/>
              </a:lnSpc>
            </a:pPr>
            <a:r>
              <a:rPr lang="en-US" sz="73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543" y="617369"/>
            <a:ext cx="18288000" cy="5717898"/>
          </a:xfrm>
          <a:custGeom>
            <a:avLst/>
            <a:gdLst/>
            <a:ahLst/>
            <a:cxnLst/>
            <a:rect r="r" b="b" t="t" l="l"/>
            <a:pathLst>
              <a:path h="5717898" w="18288000">
                <a:moveTo>
                  <a:pt x="0" y="0"/>
                </a:moveTo>
                <a:lnTo>
                  <a:pt x="18288000" y="0"/>
                </a:lnTo>
                <a:lnTo>
                  <a:pt x="18288000" y="5717898"/>
                </a:lnTo>
                <a:lnTo>
                  <a:pt x="0" y="5717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</a:blip>
            <a:stretch>
              <a:fillRect l="0" t="0" r="-367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45366" y="4813153"/>
            <a:ext cx="4681089" cy="4445147"/>
          </a:xfrm>
          <a:custGeom>
            <a:avLst/>
            <a:gdLst/>
            <a:ahLst/>
            <a:cxnLst/>
            <a:rect r="r" b="b" t="t" l="l"/>
            <a:pathLst>
              <a:path h="4445147" w="4681089">
                <a:moveTo>
                  <a:pt x="0" y="0"/>
                </a:moveTo>
                <a:lnTo>
                  <a:pt x="4681090" y="0"/>
                </a:lnTo>
                <a:lnTo>
                  <a:pt x="4681090" y="4445147"/>
                </a:lnTo>
                <a:lnTo>
                  <a:pt x="0" y="4445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45366" y="1969989"/>
            <a:ext cx="10294946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28453" y="3428693"/>
            <a:ext cx="9230847" cy="283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Netflix is one of the most popular streaming platforms in the world, offering a wide variety of movies and TV shows.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In this project, we analyzed Netfliz’s content library to understand content trends, popular genres and content distribution across different countries.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28453" y="6525767"/>
            <a:ext cx="9230847" cy="261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Objectives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Explore the Netflix dataset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Identify content trends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Analyze genres, ratings and countries</a:t>
            </a: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Provide recommendations based on the findings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59860" y="461874"/>
            <a:ext cx="5431793" cy="5864284"/>
          </a:xfrm>
          <a:custGeom>
            <a:avLst/>
            <a:gdLst/>
            <a:ahLst/>
            <a:cxnLst/>
            <a:rect r="r" b="b" t="t" l="l"/>
            <a:pathLst>
              <a:path h="5864284" w="5431793">
                <a:moveTo>
                  <a:pt x="0" y="0"/>
                </a:moveTo>
                <a:lnTo>
                  <a:pt x="5431793" y="0"/>
                </a:lnTo>
                <a:lnTo>
                  <a:pt x="5431793" y="5864284"/>
                </a:lnTo>
                <a:lnTo>
                  <a:pt x="0" y="5864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63009" y="-1608537"/>
            <a:ext cx="5098509" cy="4781977"/>
          </a:xfrm>
          <a:custGeom>
            <a:avLst/>
            <a:gdLst/>
            <a:ahLst/>
            <a:cxnLst/>
            <a:rect r="r" b="b" t="t" l="l"/>
            <a:pathLst>
              <a:path h="4781977" w="5098509">
                <a:moveTo>
                  <a:pt x="0" y="0"/>
                </a:moveTo>
                <a:lnTo>
                  <a:pt x="5098509" y="0"/>
                </a:lnTo>
                <a:lnTo>
                  <a:pt x="5098509" y="4781977"/>
                </a:lnTo>
                <a:lnTo>
                  <a:pt x="0" y="4781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431505" y="4229586"/>
          <a:ext cx="7586157" cy="4274588"/>
        </p:xfrm>
        <a:graphic>
          <a:graphicData uri="http://schemas.openxmlformats.org/presentationml/2006/ole">
            <p:oleObj imgW="9105900" imgH="579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402764" y="511873"/>
            <a:ext cx="8481035" cy="239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46025" y="7172324"/>
            <a:ext cx="7432744" cy="208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Dataset Information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Source: Kaggle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Number of records: 8,807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Number of variables: 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31505" y="3411000"/>
            <a:ext cx="7432744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Important Variables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5366" y="1912310"/>
            <a:ext cx="13048976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CLEANING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3540402"/>
            <a:ext cx="18288000" cy="5717898"/>
          </a:xfrm>
          <a:custGeom>
            <a:avLst/>
            <a:gdLst/>
            <a:ahLst/>
            <a:cxnLst/>
            <a:rect r="r" b="b" t="t" l="l"/>
            <a:pathLst>
              <a:path h="5717898" w="18288000">
                <a:moveTo>
                  <a:pt x="0" y="0"/>
                </a:moveTo>
                <a:lnTo>
                  <a:pt x="18288000" y="0"/>
                </a:lnTo>
                <a:lnTo>
                  <a:pt x="18288000" y="5717898"/>
                </a:lnTo>
                <a:lnTo>
                  <a:pt x="0" y="5717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0" t="0" r="-367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26577" y="4069406"/>
            <a:ext cx="12486555" cy="4574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49"/>
              </a:lnSpc>
            </a:pPr>
            <a:r>
              <a:rPr lang="en-US" sz="374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Data Cleaning Process</a:t>
            </a:r>
          </a:p>
          <a:p>
            <a:pPr algn="just">
              <a:lnSpc>
                <a:spcPts val="5249"/>
              </a:lnSpc>
            </a:pPr>
          </a:p>
          <a:p>
            <a:pPr algn="just">
              <a:lnSpc>
                <a:spcPts val="5249"/>
              </a:lnSpc>
            </a:pPr>
            <a:r>
              <a:rPr lang="en-US" sz="374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Before starting the analysis, we cleaned the dataset by:</a:t>
            </a:r>
          </a:p>
          <a:p>
            <a:pPr algn="l" marL="809580" indent="-404790" lvl="1">
              <a:lnSpc>
                <a:spcPts val="5249"/>
              </a:lnSpc>
              <a:buFont typeface="Arial"/>
              <a:buChar char="•"/>
            </a:pPr>
            <a:r>
              <a:rPr lang="en-US" sz="374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Checking for missing values</a:t>
            </a:r>
          </a:p>
          <a:p>
            <a:pPr algn="l" marL="809580" indent="-404790" lvl="1">
              <a:lnSpc>
                <a:spcPts val="5249"/>
              </a:lnSpc>
              <a:buFont typeface="Arial"/>
              <a:buChar char="•"/>
            </a:pPr>
            <a:r>
              <a:rPr lang="en-US" sz="374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Replacing missing values with “Unknown”</a:t>
            </a:r>
          </a:p>
          <a:p>
            <a:pPr algn="l" marL="809580" indent="-404790" lvl="1">
              <a:lnSpc>
                <a:spcPts val="5249"/>
              </a:lnSpc>
              <a:buFont typeface="Arial"/>
              <a:buChar char="•"/>
            </a:pPr>
            <a:r>
              <a:rPr lang="en-US" sz="374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Checking for duplicate records</a:t>
            </a:r>
          </a:p>
          <a:p>
            <a:pPr algn="l" marL="809580" indent="-404790" lvl="1">
              <a:lnSpc>
                <a:spcPts val="5249"/>
              </a:lnSpc>
              <a:buFont typeface="Arial"/>
              <a:buChar char="•"/>
            </a:pPr>
            <a:r>
              <a:rPr lang="en-US" sz="3749">
                <a:solidFill>
                  <a:srgbClr val="291F23"/>
                </a:solidFill>
                <a:latin typeface="Belleza"/>
                <a:ea typeface="Belleza"/>
                <a:cs typeface="Belleza"/>
                <a:sym typeface="Belleza"/>
              </a:rPr>
              <a:t>Converting data formats where necessary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1133" y="320806"/>
            <a:ext cx="4525628" cy="4114800"/>
          </a:xfrm>
          <a:custGeom>
            <a:avLst/>
            <a:gdLst/>
            <a:ahLst/>
            <a:cxnLst/>
            <a:rect r="r" b="b" t="t" l="l"/>
            <a:pathLst>
              <a:path h="4114800" w="4525628">
                <a:moveTo>
                  <a:pt x="0" y="0"/>
                </a:moveTo>
                <a:lnTo>
                  <a:pt x="4525628" y="0"/>
                </a:lnTo>
                <a:lnTo>
                  <a:pt x="45256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72941" y="2281033"/>
            <a:ext cx="8507867" cy="6380900"/>
          </a:xfrm>
          <a:custGeom>
            <a:avLst/>
            <a:gdLst/>
            <a:ahLst/>
            <a:cxnLst/>
            <a:rect r="r" b="b" t="t" l="l"/>
            <a:pathLst>
              <a:path h="6380900" w="8507867">
                <a:moveTo>
                  <a:pt x="0" y="0"/>
                </a:moveTo>
                <a:lnTo>
                  <a:pt x="8507867" y="0"/>
                </a:lnTo>
                <a:lnTo>
                  <a:pt x="8507867" y="6380900"/>
                </a:lnTo>
                <a:lnTo>
                  <a:pt x="0" y="638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27535" y="1143000"/>
            <a:ext cx="10798680" cy="94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MOVIES VS TV SHOW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90973" y="8785758"/>
            <a:ext cx="12671804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Movies make up a much larger portion of Netflix’s content library compared to TV Shows.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6859" y="2279594"/>
            <a:ext cx="8256854" cy="7450272"/>
          </a:xfrm>
          <a:custGeom>
            <a:avLst/>
            <a:gdLst/>
            <a:ahLst/>
            <a:cxnLst/>
            <a:rect r="r" b="b" t="t" l="l"/>
            <a:pathLst>
              <a:path h="7450272" w="8256854">
                <a:moveTo>
                  <a:pt x="0" y="0"/>
                </a:moveTo>
                <a:lnTo>
                  <a:pt x="8256853" y="0"/>
                </a:lnTo>
                <a:lnTo>
                  <a:pt x="8256853" y="7450271"/>
                </a:lnTo>
                <a:lnTo>
                  <a:pt x="0" y="7450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61855" y="1028700"/>
            <a:ext cx="5458630" cy="5458630"/>
          </a:xfrm>
          <a:custGeom>
            <a:avLst/>
            <a:gdLst/>
            <a:ahLst/>
            <a:cxnLst/>
            <a:rect r="r" b="b" t="t" l="l"/>
            <a:pathLst>
              <a:path h="5458630" w="5458630">
                <a:moveTo>
                  <a:pt x="0" y="0"/>
                </a:moveTo>
                <a:lnTo>
                  <a:pt x="5458630" y="0"/>
                </a:lnTo>
                <a:lnTo>
                  <a:pt x="5458630" y="5458630"/>
                </a:lnTo>
                <a:lnTo>
                  <a:pt x="0" y="5458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3904" y="453969"/>
            <a:ext cx="11403651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TOP PRODUCING COUNTRIES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4157" y="7074958"/>
            <a:ext cx="7874026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The United States contributes the highest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 number of titles on Netflix.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55039" y="2092337"/>
            <a:ext cx="9404261" cy="7802767"/>
          </a:xfrm>
          <a:custGeom>
            <a:avLst/>
            <a:gdLst/>
            <a:ahLst/>
            <a:cxnLst/>
            <a:rect r="r" b="b" t="t" l="l"/>
            <a:pathLst>
              <a:path h="7802767" w="9404261">
                <a:moveTo>
                  <a:pt x="0" y="0"/>
                </a:moveTo>
                <a:lnTo>
                  <a:pt x="9404261" y="0"/>
                </a:lnTo>
                <a:lnTo>
                  <a:pt x="9404261" y="7802767"/>
                </a:lnTo>
                <a:lnTo>
                  <a:pt x="0" y="7802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3578" y="2298369"/>
            <a:ext cx="6941304" cy="4795810"/>
          </a:xfrm>
          <a:custGeom>
            <a:avLst/>
            <a:gdLst/>
            <a:ahLst/>
            <a:cxnLst/>
            <a:rect r="r" b="b" t="t" l="l"/>
            <a:pathLst>
              <a:path h="4795810" w="6941304">
                <a:moveTo>
                  <a:pt x="0" y="0"/>
                </a:moveTo>
                <a:lnTo>
                  <a:pt x="6941303" y="0"/>
                </a:lnTo>
                <a:lnTo>
                  <a:pt x="6941303" y="4795810"/>
                </a:lnTo>
                <a:lnTo>
                  <a:pt x="0" y="479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55757" y="889000"/>
            <a:ext cx="10798680" cy="94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CONTENT RATINGS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7800" y="7487536"/>
            <a:ext cx="8212693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TV-MA and TV-14 are the most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 common ratings.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6127" y="1987779"/>
            <a:ext cx="9942123" cy="7760020"/>
          </a:xfrm>
          <a:custGeom>
            <a:avLst/>
            <a:gdLst/>
            <a:ahLst/>
            <a:cxnLst/>
            <a:rect r="r" b="b" t="t" l="l"/>
            <a:pathLst>
              <a:path h="7760020" w="9942123">
                <a:moveTo>
                  <a:pt x="0" y="0"/>
                </a:moveTo>
                <a:lnTo>
                  <a:pt x="9942122" y="0"/>
                </a:lnTo>
                <a:lnTo>
                  <a:pt x="9942122" y="7760021"/>
                </a:lnTo>
                <a:lnTo>
                  <a:pt x="0" y="776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13292" y="546100"/>
            <a:ext cx="5074305" cy="4114800"/>
          </a:xfrm>
          <a:custGeom>
            <a:avLst/>
            <a:gdLst/>
            <a:ahLst/>
            <a:cxnLst/>
            <a:rect r="r" b="b" t="t" l="l"/>
            <a:pathLst>
              <a:path h="4114800" w="5074305">
                <a:moveTo>
                  <a:pt x="0" y="0"/>
                </a:moveTo>
                <a:lnTo>
                  <a:pt x="5074305" y="0"/>
                </a:lnTo>
                <a:lnTo>
                  <a:pt x="50743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6127" y="669925"/>
            <a:ext cx="11403651" cy="93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RELEASE YEAR TREND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67974" y="6510514"/>
            <a:ext cx="7874026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The number of titles increased rapidly after 2010.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995536"/>
            <a:ext cx="8115300" cy="7949258"/>
          </a:xfrm>
          <a:custGeom>
            <a:avLst/>
            <a:gdLst/>
            <a:ahLst/>
            <a:cxnLst/>
            <a:rect r="r" b="b" t="t" l="l"/>
            <a:pathLst>
              <a:path h="7949258" w="8115300">
                <a:moveTo>
                  <a:pt x="0" y="0"/>
                </a:moveTo>
                <a:lnTo>
                  <a:pt x="8115300" y="0"/>
                </a:lnTo>
                <a:lnTo>
                  <a:pt x="8115300" y="7949258"/>
                </a:lnTo>
                <a:lnTo>
                  <a:pt x="0" y="794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9355" y="1221852"/>
            <a:ext cx="3209544" cy="4114800"/>
          </a:xfrm>
          <a:custGeom>
            <a:avLst/>
            <a:gdLst/>
            <a:ahLst/>
            <a:cxnLst/>
            <a:rect r="r" b="b" t="t" l="l"/>
            <a:pathLst>
              <a:path h="4114800" w="3209544">
                <a:moveTo>
                  <a:pt x="0" y="0"/>
                </a:moveTo>
                <a:lnTo>
                  <a:pt x="3209544" y="0"/>
                </a:lnTo>
                <a:lnTo>
                  <a:pt x="32095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67570" y="3279252"/>
            <a:ext cx="4642732" cy="4676744"/>
          </a:xfrm>
          <a:custGeom>
            <a:avLst/>
            <a:gdLst/>
            <a:ahLst/>
            <a:cxnLst/>
            <a:rect r="r" b="b" t="t" l="l"/>
            <a:pathLst>
              <a:path h="4676744" w="4642732">
                <a:moveTo>
                  <a:pt x="0" y="0"/>
                </a:moveTo>
                <a:lnTo>
                  <a:pt x="4642732" y="0"/>
                </a:lnTo>
                <a:lnTo>
                  <a:pt x="4642732" y="4676744"/>
                </a:lnTo>
                <a:lnTo>
                  <a:pt x="0" y="4676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0714" y="804333"/>
            <a:ext cx="10798680" cy="94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GENRE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1307" y="8148954"/>
            <a:ext cx="8212693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Drama and International Movies are the most common genres.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32149" y="-186407"/>
            <a:ext cx="9068430" cy="8229600"/>
          </a:xfrm>
          <a:custGeom>
            <a:avLst/>
            <a:gdLst/>
            <a:ahLst/>
            <a:cxnLst/>
            <a:rect r="r" b="b" t="t" l="l"/>
            <a:pathLst>
              <a:path h="8229600" w="9068430">
                <a:moveTo>
                  <a:pt x="0" y="0"/>
                </a:moveTo>
                <a:lnTo>
                  <a:pt x="9068430" y="0"/>
                </a:lnTo>
                <a:lnTo>
                  <a:pt x="9068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517" y="2245702"/>
            <a:ext cx="9735341" cy="7602599"/>
          </a:xfrm>
          <a:custGeom>
            <a:avLst/>
            <a:gdLst/>
            <a:ahLst/>
            <a:cxnLst/>
            <a:rect r="r" b="b" t="t" l="l"/>
            <a:pathLst>
              <a:path h="7602599" w="9735341">
                <a:moveTo>
                  <a:pt x="0" y="0"/>
                </a:moveTo>
                <a:lnTo>
                  <a:pt x="9735342" y="0"/>
                </a:lnTo>
                <a:lnTo>
                  <a:pt x="9735342" y="7602599"/>
                </a:lnTo>
                <a:lnTo>
                  <a:pt x="0" y="76025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66364" y="0"/>
            <a:ext cx="5852246" cy="5575594"/>
          </a:xfrm>
          <a:custGeom>
            <a:avLst/>
            <a:gdLst/>
            <a:ahLst/>
            <a:cxnLst/>
            <a:rect r="r" b="b" t="t" l="l"/>
            <a:pathLst>
              <a:path h="5575594" w="5852246">
                <a:moveTo>
                  <a:pt x="0" y="0"/>
                </a:moveTo>
                <a:lnTo>
                  <a:pt x="5852246" y="0"/>
                </a:lnTo>
                <a:lnTo>
                  <a:pt x="5852246" y="5575594"/>
                </a:lnTo>
                <a:lnTo>
                  <a:pt x="0" y="5575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6127" y="641350"/>
            <a:ext cx="9942123" cy="1604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2"/>
              </a:lnSpc>
            </a:pPr>
            <a:r>
              <a:rPr lang="en-US" sz="6102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CONTENT ADDED BY YEAR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48249" y="8318288"/>
            <a:ext cx="7874026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Netflix added a large amount of content between 2016 and 2020.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7431" y="2587289"/>
            <a:ext cx="3100381" cy="2818934"/>
          </a:xfrm>
          <a:custGeom>
            <a:avLst/>
            <a:gdLst/>
            <a:ahLst/>
            <a:cxnLst/>
            <a:rect r="r" b="b" t="t" l="l"/>
            <a:pathLst>
              <a:path h="2818934" w="3100381">
                <a:moveTo>
                  <a:pt x="0" y="0"/>
                </a:moveTo>
                <a:lnTo>
                  <a:pt x="3100380" y="0"/>
                </a:lnTo>
                <a:lnTo>
                  <a:pt x="3100380" y="2818934"/>
                </a:lnTo>
                <a:lnTo>
                  <a:pt x="0" y="2818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05042"/>
            <a:ext cx="13503605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0457" y="5076825"/>
            <a:ext cx="17567086" cy="275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981" indent="-342490" lvl="1">
              <a:lnSpc>
                <a:spcPts val="4441"/>
              </a:lnSpc>
              <a:buFont typeface="Arial"/>
              <a:buChar char="•"/>
            </a:pPr>
            <a:r>
              <a:rPr lang="en-US" sz="3172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Increase investment in TV series to improve user engangement and retention.</a:t>
            </a:r>
          </a:p>
          <a:p>
            <a:pPr algn="l" marL="684981" indent="-342490" lvl="1">
              <a:lnSpc>
                <a:spcPts val="4441"/>
              </a:lnSpc>
              <a:buFont typeface="Arial"/>
              <a:buChar char="•"/>
            </a:pPr>
            <a:r>
              <a:rPr lang="en-US" sz="3172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Expand content production in international markets to reduce reliance on the United States.</a:t>
            </a:r>
          </a:p>
          <a:p>
            <a:pPr algn="l" marL="684981" indent="-342490" lvl="1">
              <a:lnSpc>
                <a:spcPts val="4441"/>
              </a:lnSpc>
              <a:buFont typeface="Arial"/>
              <a:buChar char="•"/>
            </a:pPr>
            <a:r>
              <a:rPr lang="en-US" sz="3172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Improve data quality controls to ensure more accurate and reliable information.</a:t>
            </a:r>
          </a:p>
          <a:p>
            <a:pPr algn="l" marL="684981" indent="-342490" lvl="1">
              <a:lnSpc>
                <a:spcPts val="4441"/>
              </a:lnSpc>
              <a:buFont typeface="Arial"/>
              <a:buChar char="•"/>
            </a:pPr>
            <a:r>
              <a:rPr lang="en-US" sz="3172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Ensure complete content metadata, especially country information for better analysis.</a:t>
            </a:r>
          </a:p>
          <a:p>
            <a:pPr algn="l" marL="684981" indent="-342490" lvl="1">
              <a:lnSpc>
                <a:spcPts val="4441"/>
              </a:lnSpc>
              <a:buFont typeface="Arial"/>
              <a:buChar char="•"/>
            </a:pPr>
            <a:r>
              <a:rPr lang="en-US" sz="3172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Focus on producing high-quality original content for mature and teenage audiences.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04246" y="1275784"/>
            <a:ext cx="4474858" cy="4706249"/>
          </a:xfrm>
          <a:custGeom>
            <a:avLst/>
            <a:gdLst/>
            <a:ahLst/>
            <a:cxnLst/>
            <a:rect r="r" b="b" t="t" l="l"/>
            <a:pathLst>
              <a:path h="4706249" w="4474858">
                <a:moveTo>
                  <a:pt x="0" y="0"/>
                </a:moveTo>
                <a:lnTo>
                  <a:pt x="4474858" y="0"/>
                </a:lnTo>
                <a:lnTo>
                  <a:pt x="4474858" y="4706248"/>
                </a:lnTo>
                <a:lnTo>
                  <a:pt x="0" y="47062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703179" y="1321658"/>
            <a:ext cx="4903727" cy="2739958"/>
          </a:xfrm>
          <a:custGeom>
            <a:avLst/>
            <a:gdLst/>
            <a:ahLst/>
            <a:cxnLst/>
            <a:rect r="r" b="b" t="t" l="l"/>
            <a:pathLst>
              <a:path h="2739958" w="4903727">
                <a:moveTo>
                  <a:pt x="0" y="0"/>
                </a:moveTo>
                <a:lnTo>
                  <a:pt x="4903728" y="0"/>
                </a:lnTo>
                <a:lnTo>
                  <a:pt x="4903728" y="2739957"/>
                </a:lnTo>
                <a:lnTo>
                  <a:pt x="0" y="2739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87061" y="1719573"/>
            <a:ext cx="8939210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87061" y="3562233"/>
            <a:ext cx="10095158" cy="5650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Movies dominate Netflix’s content library.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The United States is the largest content contributor.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Netflix mainly targets mature and teenage audiences,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Content growth increased rapidly during the 2010s before slowing in recent years.</a:t>
            </a:r>
          </a:p>
          <a:p>
            <a:pPr algn="l" marL="626106" indent="-313053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International content plays an important role in Netflix’s catalog.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887BB0"/>
                </a:solidFill>
                <a:latin typeface="Belleza"/>
                <a:ea typeface="Belleza"/>
                <a:cs typeface="Belleza"/>
                <a:sym typeface="Belleza"/>
              </a:rPr>
              <a:t>Overall, the analysis shows down that Netflix has built a strong and diverse content library but there are opportunities to improve content balance, expand international production and strengthen data quality for future growth.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4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7453" y="3862491"/>
            <a:ext cx="10556002" cy="351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1"/>
              </a:lnSpc>
            </a:pPr>
            <a:r>
              <a:rPr lang="en-US" sz="13521">
                <a:solidFill>
                  <a:srgbClr val="887BB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785440" y="2408199"/>
            <a:ext cx="5999423" cy="6172625"/>
          </a:xfrm>
          <a:custGeom>
            <a:avLst/>
            <a:gdLst/>
            <a:ahLst/>
            <a:cxnLst/>
            <a:rect r="r" b="b" t="t" l="l"/>
            <a:pathLst>
              <a:path h="6172625" w="5999423">
                <a:moveTo>
                  <a:pt x="0" y="0"/>
                </a:moveTo>
                <a:lnTo>
                  <a:pt x="5999424" y="0"/>
                </a:lnTo>
                <a:lnTo>
                  <a:pt x="5999424" y="6172625"/>
                </a:lnTo>
                <a:lnTo>
                  <a:pt x="0" y="6172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DAHLlU9sdyQ</dc:identifier>
  <dcterms:modified xsi:type="dcterms:W3CDTF">2011-08-01T06:04:30Z</dcterms:modified>
  <cp:revision>1</cp:revision>
  <dc:title>Netflix Analysis Presentation</dc:title>
</cp:coreProperties>
</file>